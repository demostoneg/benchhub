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9" Type="http://schemas.openxmlformats.org/officeDocument/2006/relationships/slideLayout" Target="../slideLayouts/slideLayout7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E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63500" cy="685800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25400" cy="68580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1005839"/>
            <a:ext cx="182880" cy="182880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3536" y="1773936"/>
            <a:ext cx="109728" cy="109728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99648" y="84124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11512" y="5056631"/>
            <a:ext cx="128016" cy="128016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92840" y="37947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52176" y="5705856"/>
            <a:ext cx="109728" cy="109728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868680"/>
            <a:ext cx="1980000" cy="355600"/>
          </a:xfrm>
          <a:prstGeom prst="rect">
            <a:avLst/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PRODUCT  ·  2026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1508760"/>
            <a:ext cx="74066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微软雅黑 Light" panose="020B0502040204020203" charset="-122"/>
              </a:rPr>
              <a:t>Bench</a:t>
            </a:r>
            <a:r>
              <a:rPr sz="7200" b="1">
                <a:solidFill>
                  <a:srgbClr val="18E0C8"/>
                </a:solidFill>
                <a:latin typeface="微软雅黑 Light" panose="020B0502040204020203" charset="-122"/>
              </a:rPr>
              <a:t>Hub</a:t>
            </a:r>
            <a:endParaRPr sz="72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297180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D7DEF2"/>
                </a:solidFill>
                <a:latin typeface="微软雅黑" panose="020B0503020204020204" charset="-122"/>
              </a:rPr>
              <a:t>个人 AI 论文实验数据  ·  智能管理平台</a:t>
            </a:r>
            <a:endParaRPr sz="2400" b="0">
              <a:solidFill>
                <a:srgbClr val="D7DEF2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41248" y="4160520"/>
            <a:ext cx="1298448" cy="457200"/>
          </a:xfrm>
          <a:prstGeom prst="roundRect">
            <a:avLst/>
          </a:prstGeom>
          <a:solidFill>
            <a:srgbClr val="242E52"/>
          </a:solidFill>
          <a:ln w="15240">
            <a:solidFill>
              <a:srgbClr val="5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上传 PDF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ight Triangle 14"/>
          <p:cNvSpPr/>
          <p:nvPr/>
        </p:nvSpPr>
        <p:spPr>
          <a:xfrm rot="5400000">
            <a:off x="2167128" y="4325112"/>
            <a:ext cx="164592" cy="128016"/>
          </a:xfrm>
          <a:prstGeom prst="rtTriangl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4160520"/>
            <a:ext cx="1298448" cy="457200"/>
          </a:xfrm>
          <a:prstGeom prst="roundRect">
            <a:avLst/>
          </a:prstGeom>
          <a:solidFill>
            <a:srgbClr val="242E52"/>
          </a:solidFill>
          <a:ln w="15240">
            <a:solidFill>
              <a:srgbClr val="5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表格提取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ight Triangle 16"/>
          <p:cNvSpPr/>
          <p:nvPr/>
        </p:nvSpPr>
        <p:spPr>
          <a:xfrm rot="5400000">
            <a:off x="3703320" y="4325112"/>
            <a:ext cx="164592" cy="128016"/>
          </a:xfrm>
          <a:prstGeom prst="rtTriangl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13632" y="4160520"/>
            <a:ext cx="1298448" cy="457200"/>
          </a:xfrm>
          <a:prstGeom prst="roundRect">
            <a:avLst/>
          </a:prstGeom>
          <a:solidFill>
            <a:srgbClr val="242E52"/>
          </a:solidFill>
          <a:ln w="15240">
            <a:solidFill>
              <a:srgbClr val="18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LLM 抽取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ight Triangle 18"/>
          <p:cNvSpPr/>
          <p:nvPr/>
        </p:nvSpPr>
        <p:spPr>
          <a:xfrm rot="5400000">
            <a:off x="5239512" y="4325112"/>
            <a:ext cx="164592" cy="128016"/>
          </a:xfrm>
          <a:prstGeom prst="rtTriangl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49824" y="4160520"/>
            <a:ext cx="1298448" cy="457200"/>
          </a:xfrm>
          <a:prstGeom prst="roundRect">
            <a:avLst/>
          </a:prstGeom>
          <a:solidFill>
            <a:srgbClr val="242E52"/>
          </a:solidFill>
          <a:ln w="15240">
            <a:solidFill>
              <a:srgbClr val="5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归一化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ight Triangle 20"/>
          <p:cNvSpPr/>
          <p:nvPr/>
        </p:nvSpPr>
        <p:spPr>
          <a:xfrm rot="5400000">
            <a:off x="6775704" y="4325112"/>
            <a:ext cx="164592" cy="128016"/>
          </a:xfrm>
          <a:prstGeom prst="rtTriangl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86016" y="4160520"/>
            <a:ext cx="1298448" cy="457200"/>
          </a:xfrm>
          <a:prstGeom prst="roundRect">
            <a:avLst/>
          </a:prstGeom>
          <a:solidFill>
            <a:srgbClr val="242E52"/>
          </a:solidFill>
          <a:ln w="15240">
            <a:solidFill>
              <a:srgbClr val="18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SOTA 排行榜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" y="4892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6C2E0"/>
                </a:solidFill>
                <a:latin typeface="微软雅黑" panose="020B0503020204020204" charset="-122"/>
              </a:rPr>
              <a:t>上传 PDF → 自动抽取实验数据 → 构建私有 SOTA 排行榜</a:t>
            </a:r>
            <a:endParaRPr sz="1350" b="0">
              <a:solidFill>
                <a:srgbClr val="B6C2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1248" y="5623560"/>
            <a:ext cx="2011680" cy="254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7790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3BE"/>
                </a:solidFill>
                <a:latin typeface="微软雅黑" panose="020B0503020204020204" charset="-122"/>
              </a:rPr>
              <a:t>对标  </a:t>
            </a:r>
            <a:r>
              <a:rPr sz="1100" b="1">
                <a:solidFill>
                  <a:srgbClr val="C4CDE4"/>
                </a:solidFill>
                <a:latin typeface="微软雅黑" panose="020B0503020204020204" charset="-122"/>
              </a:rPr>
              <a:t>PapersWithCode · Wizwand SOTA Leaderboard</a:t>
            </a:r>
            <a:endParaRPr sz="1100" b="1">
              <a:solidFill>
                <a:srgbClr val="C4CDE4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32520" y="868680"/>
            <a:ext cx="2194560" cy="1417320"/>
          </a:xfrm>
          <a:prstGeom prst="roundRect">
            <a:avLst/>
          </a:prstGeom>
          <a:solidFill>
            <a:srgbClr val="1B2442"/>
          </a:solidFill>
          <a:ln w="12700">
            <a:solidFill>
              <a:srgbClr val="33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033271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8E0C8"/>
                </a:solidFill>
                <a:latin typeface="微软雅黑 Light" panose="020B0502040204020203" charset="-122"/>
              </a:rPr>
              <a:t>5-tuple</a:t>
            </a:r>
            <a:endParaRPr sz="30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0" y="17099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Benchmark / Model
Dataset / Metric / Value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732520" y="2514600"/>
            <a:ext cx="2194560" cy="1417320"/>
          </a:xfrm>
          <a:prstGeom prst="roundRect">
            <a:avLst/>
          </a:prstGeom>
          <a:solidFill>
            <a:srgbClr val="1B2442"/>
          </a:solidFill>
          <a:ln w="12700">
            <a:solidFill>
              <a:srgbClr val="33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267919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8E0C8"/>
                </a:solidFill>
                <a:latin typeface="微软雅黑 Light" panose="020B0502040204020203" charset="-122"/>
              </a:rPr>
              <a:t>TEDS</a:t>
            </a:r>
            <a:endParaRPr sz="30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0" y="335584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TableFormer
96.75% 准确率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32520" y="4160520"/>
            <a:ext cx="2194560" cy="1417320"/>
          </a:xfrm>
          <a:prstGeom prst="roundRect">
            <a:avLst/>
          </a:prstGeom>
          <a:solidFill>
            <a:srgbClr val="1B2442"/>
          </a:solidFill>
          <a:ln w="12700">
            <a:solidFill>
              <a:srgbClr val="33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32511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8E0C8"/>
                </a:solidFill>
                <a:latin typeface="微软雅黑 Light" panose="020B0502040204020203" charset="-122"/>
              </a:rPr>
              <a:t>0</a:t>
            </a:r>
            <a:endParaRPr sz="30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61120" y="5001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手动录入
全自动 Pipeline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22960"/>
            <a:ext cx="640080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0" b="1">
                <a:solidFill>
                  <a:srgbClr val="1E284A"/>
                </a:solidFill>
                <a:latin typeface="微软雅黑 Light" panose="020B0502040204020203" charset="-122"/>
              </a:rPr>
              <a:t>02</a:t>
            </a:r>
            <a:endParaRPr sz="32000" b="1">
              <a:solidFill>
                <a:srgbClr val="1E284A"/>
              </a:solidFill>
              <a:latin typeface="微软雅黑 Light" panose="020B0502040204020203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0" y="2468880"/>
            <a:ext cx="1100000" cy="355600"/>
          </a:xfrm>
          <a:prstGeom prst="rect">
            <a:avLst/>
          </a:prstGeom>
          <a:solidFill>
            <a:srgbClr val="10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PART  01</a:t>
            </a:r>
            <a:endParaRPr sz="12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217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微软雅黑 Light" panose="020B0502040204020203" charset="-122"/>
              </a:rPr>
              <a:t>项目介绍</a:t>
            </a:r>
            <a:endParaRPr sz="4400" b="1">
              <a:solidFill>
                <a:srgbClr val="FFFFFF"/>
              </a:solidFill>
              <a:latin typeface="微软雅黑 Light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32120" y="4160520"/>
            <a:ext cx="640080" cy="508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343400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B6C2E0"/>
                </a:solidFill>
                <a:latin typeface="微软雅黑" panose="020B0503020204020204" charset="-122"/>
              </a:rPr>
              <a:t>论文对比的现状痛点，与 BenchHub 想要解决的问题。</a:t>
            </a:r>
            <a:endParaRPr sz="1400" b="0">
              <a:solidFill>
                <a:srgbClr val="B6C2E0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6ADC4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A6ADC4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A6ADC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6ADC4"/>
                </a:solidFill>
                <a:latin typeface="微软雅黑" panose="020B0503020204020204" charset="-122"/>
              </a:rPr>
              <a:t>02 / 09</a:t>
            </a:r>
            <a:endParaRPr sz="900" b="1">
              <a:solidFill>
                <a:srgbClr val="A6AD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98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01  ·  项目介绍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论文对比的痛点</a:t>
            </a:r>
            <a:r>
              <a:rPr lang="zh-CN" sz="3400" b="1">
                <a:solidFill>
                  <a:srgbClr val="1A2136"/>
                </a:solidFill>
                <a:latin typeface="微软雅黑" panose="020B0503020204020204" charset="-122"/>
              </a:rPr>
              <a:t>、</a:t>
            </a: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产品</a:t>
            </a:r>
            <a:r>
              <a:rPr lang="zh-CN" sz="3400" b="1">
                <a:solidFill>
                  <a:srgbClr val="1A2136"/>
                </a:solidFill>
                <a:latin typeface="微软雅黑" panose="020B0503020204020204" charset="-122"/>
              </a:rPr>
              <a:t>说明</a:t>
            </a:r>
            <a:endParaRPr lang="zh-CN"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从「打开 PDF → 肉眼对齐 → 抄数字」的繁琐流程，到一键生成 SOTA 排行榜。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7A59"/>
                </a:solidFill>
                <a:latin typeface="微软雅黑" panose="020B0503020204020204" charset="-122"/>
              </a:rPr>
              <a:t>现状  ·  </a:t>
            </a:r>
            <a:r>
              <a:rPr sz="1200" b="1">
                <a:solidFill>
                  <a:srgbClr val="5A6480"/>
                </a:solidFill>
                <a:latin typeface="微软雅黑" panose="020B0503020204020204" charset="-122"/>
              </a:rPr>
              <a:t>论文对比有多繁琐？</a:t>
            </a:r>
            <a:endParaRPr sz="1200" b="1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86207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A59"/>
                </a:solidFill>
                <a:latin typeface="微软雅黑 Light" panose="020B0502040204020203" charset="-122"/>
              </a:rPr>
              <a:t>01</a:t>
            </a:r>
            <a:endParaRPr sz="2600" b="1">
              <a:solidFill>
                <a:srgbClr val="FF7A59"/>
              </a:solidFill>
              <a:latin typeface="微软雅黑 Light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84378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翻表抄数字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4480" y="31729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打开 PDF → 翻到实验页 → 找目标表格 → 肉眼对齐行列 → 抄数字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77647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941063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A59"/>
                </a:solidFill>
                <a:latin typeface="微软雅黑 Light" panose="020B0502040204020203" charset="-122"/>
              </a:rPr>
              <a:t>02</a:t>
            </a:r>
            <a:endParaRPr sz="2600" b="1">
              <a:solidFill>
                <a:srgbClr val="FF7A59"/>
              </a:solidFill>
              <a:latin typeface="微软雅黑 Light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4480" y="392277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手工拼 LaTeX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42519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手动录入 \begin{tabular} → 填 Model × Dataset × Metric × Value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855464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020055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A59"/>
                </a:solidFill>
                <a:latin typeface="微软雅黑 Light" panose="020B0502040204020203" charset="-122"/>
              </a:rPr>
              <a:t>03</a:t>
            </a:r>
            <a:endParaRPr sz="2600" b="1">
              <a:solidFill>
                <a:srgbClr val="FF7A59"/>
              </a:solidFill>
              <a:latin typeface="微软雅黑 Light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4480" y="500176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跨论文对齐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533095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多篇论文之间手动收集、排序、重新画表，信息分散易错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55080" y="2286000"/>
            <a:ext cx="5166360" cy="3657600"/>
          </a:xfrm>
          <a:prstGeom prst="roundRect">
            <a:avLst/>
          </a:prstGeom>
          <a:solidFill>
            <a:srgbClr val="141A2E"/>
          </a:solidFill>
          <a:ln>
            <a:noFill/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286000"/>
            <a:ext cx="63500" cy="36576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BenchHub  ·  </a:t>
            </a:r>
            <a:r>
              <a:rPr sz="1200" b="1">
                <a:solidFill>
                  <a:srgbClr val="C4CDE4"/>
                </a:solidFill>
                <a:latin typeface="微软雅黑" panose="020B0503020204020204" charset="-122"/>
              </a:rPr>
              <a:t>产品说明</a:t>
            </a:r>
            <a:endParaRPr sz="1200" b="1">
              <a:solidFill>
                <a:srgbClr val="C4CDE4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75120" y="3044952"/>
            <a:ext cx="146304" cy="146304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971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PDF 上传即用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49440" y="3300984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拖拽上传论文 PDF，自动识别表格结构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675120" y="3913632"/>
            <a:ext cx="146304" cy="146304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840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LLM 智能抽取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0" y="4169664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逐表调用大模型，提取 5 元组 (Benchmark, Model, Dataset, Metric, Value)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675120" y="4782312"/>
            <a:ext cx="146304" cy="146304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709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SOTA 排行榜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49440" y="5038344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6B3D6"/>
                </a:solidFill>
                <a:latin typeface="微软雅黑" panose="020B0503020204020204" charset="-122"/>
              </a:rPr>
              <a:t>多篇论文按 Benchmark 分组汇聚，点击列头排序，导出 LaTeX</a:t>
            </a:r>
            <a:endParaRPr sz="1050" b="0">
              <a:solidFill>
                <a:srgbClr val="A6B3D6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75120" y="5486400"/>
            <a:ext cx="4572000" cy="384048"/>
          </a:xfrm>
          <a:prstGeom prst="roundRect">
            <a:avLst/>
          </a:prstGeom>
          <a:solidFill>
            <a:srgbClr val="2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18E0C8"/>
                </a:solidFill>
                <a:latin typeface="微软雅黑" panose="020B0503020204020204" charset="-122"/>
              </a:rPr>
              <a:t>对标  Wizwand SOTA Leaderboard  ·  epic-kitchens-100</a:t>
            </a:r>
            <a:endParaRPr sz="105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03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98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02  ·  功能矩阵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sz="3400" b="1">
                <a:solidFill>
                  <a:srgbClr val="1A2136"/>
                </a:solidFill>
                <a:latin typeface="微软雅黑" panose="020B0503020204020204" charset="-122"/>
              </a:rPr>
              <a:t>功能具体</a:t>
            </a:r>
            <a:r>
              <a:rPr lang="zh-CN" sz="3400" b="1">
                <a:solidFill>
                  <a:srgbClr val="1A2136"/>
                </a:solidFill>
                <a:latin typeface="微软雅黑" panose="020B0503020204020204" charset="-122"/>
              </a:rPr>
              <a:t>介绍</a:t>
            </a:r>
            <a:endParaRPr lang="zh-CN"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从 PDF 上传到 SOTA 排行榜，每一步都为研究者自动完成。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30352" y="2331720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30352" y="2331720"/>
            <a:ext cx="2633472" cy="5080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custDataLst>
              <p:tags r:id="rId3"/>
            </p:custDataLst>
          </p:nvPr>
        </p:nvSpPr>
        <p:spPr>
          <a:xfrm>
            <a:off x="749808" y="256946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49808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E8BFF"/>
                </a:solidFill>
                <a:latin typeface="微软雅黑" panose="020B0503020204020204" charset="-122"/>
              </a:rPr>
              <a:t>01</a:t>
            </a:r>
            <a:endParaRPr sz="12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749808" y="30815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Docling 表格提取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749808" y="3293871"/>
            <a:ext cx="2194560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TableFormer 自动识别 PDF 表格结构，含 colspan/rowspan、表头语义分类、段标题检测、子行拆分。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3364992" y="2331720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3364992" y="2331720"/>
            <a:ext cx="2633472" cy="508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3584448" y="256946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3584448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02</a:t>
            </a:r>
            <a:endParaRPr sz="12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3584448" y="30815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LLM 智能抽取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3584448" y="3410711"/>
            <a:ext cx="219456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逐表调用 LLM（MiniMax M2，可替换）抽取 5 元组 + 自动表格分类 + 打标签。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199632" y="2331720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199632" y="2331720"/>
            <a:ext cx="2633472" cy="508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>
            <p:custDataLst>
              <p:tags r:id="rId15"/>
            </p:custDataLst>
          </p:nvPr>
        </p:nvSpPr>
        <p:spPr>
          <a:xfrm>
            <a:off x="6419088" y="256946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419088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7A59"/>
                </a:solidFill>
                <a:latin typeface="微软雅黑" panose="020B0503020204020204" charset="-122"/>
              </a:rPr>
              <a:t>03</a:t>
            </a:r>
            <a:endParaRPr sz="1200" b="1">
              <a:solidFill>
                <a:srgbClr val="FF7A5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7"/>
            </p:custDataLst>
          </p:nvPr>
        </p:nvSpPr>
        <p:spPr>
          <a:xfrm>
            <a:off x="6419088" y="30815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非实验表过滤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6419088" y="3410711"/>
            <a:ext cx="219456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LLM 自动识别非数据表（数据集统计等），折叠并标注过滤原因。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9"/>
            </p:custDataLst>
          </p:nvPr>
        </p:nvSpPr>
        <p:spPr>
          <a:xfrm>
            <a:off x="9034272" y="2331720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20"/>
            </p:custDataLst>
          </p:nvPr>
        </p:nvSpPr>
        <p:spPr>
          <a:xfrm>
            <a:off x="9034272" y="2331720"/>
            <a:ext cx="2633472" cy="5080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>
            <p:custDataLst>
              <p:tags r:id="rId21"/>
            </p:custDataLst>
          </p:nvPr>
        </p:nvSpPr>
        <p:spPr>
          <a:xfrm>
            <a:off x="9253728" y="256946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2"/>
            </p:custDataLst>
          </p:nvPr>
        </p:nvSpPr>
        <p:spPr>
          <a:xfrm>
            <a:off x="9253728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E8BFF"/>
                </a:solidFill>
                <a:latin typeface="微软雅黑" panose="020B0503020204020204" charset="-122"/>
              </a:rPr>
              <a:t>04</a:t>
            </a:r>
            <a:endParaRPr sz="12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9253728" y="30815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数据归一化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9253728" y="3358006"/>
            <a:ext cx="2194560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Benchmark 别名映射 + Dataset 全变体合并（EPIC-KITCHENS-* 等 20+ 变体归一）。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>
            <p:custDataLst>
              <p:tags r:id="rId25"/>
            </p:custDataLst>
          </p:nvPr>
        </p:nvSpPr>
        <p:spPr>
          <a:xfrm>
            <a:off x="530352" y="4480559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26"/>
            </p:custDataLst>
          </p:nvPr>
        </p:nvSpPr>
        <p:spPr>
          <a:xfrm>
            <a:off x="530352" y="4480559"/>
            <a:ext cx="2633472" cy="508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27"/>
            </p:custDataLst>
          </p:nvPr>
        </p:nvSpPr>
        <p:spPr>
          <a:xfrm>
            <a:off x="749808" y="471830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28"/>
            </p:custDataLst>
          </p:nvPr>
        </p:nvSpPr>
        <p:spPr>
          <a:xfrm>
            <a:off x="749808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05</a:t>
            </a:r>
            <a:endParaRPr sz="12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29"/>
            </p:custDataLst>
          </p:nvPr>
        </p:nvSpPr>
        <p:spPr>
          <a:xfrm>
            <a:off x="749808" y="52303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客户端排序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30"/>
            </p:custDataLst>
          </p:nvPr>
        </p:nvSpPr>
        <p:spPr>
          <a:xfrm>
            <a:off x="749808" y="5559551"/>
            <a:ext cx="219456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排行榜页 Alpine.js 渲染，点击列头即时排序，无页面刷新。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>
            <p:custDataLst>
              <p:tags r:id="rId31"/>
            </p:custDataLst>
          </p:nvPr>
        </p:nvSpPr>
        <p:spPr>
          <a:xfrm>
            <a:off x="3364992" y="4480559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>
            <p:custDataLst>
              <p:tags r:id="rId32"/>
            </p:custDataLst>
          </p:nvPr>
        </p:nvSpPr>
        <p:spPr>
          <a:xfrm>
            <a:off x="3364992" y="4480559"/>
            <a:ext cx="2633472" cy="5080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>
            <p:custDataLst>
              <p:tags r:id="rId33"/>
            </p:custDataLst>
          </p:nvPr>
        </p:nvSpPr>
        <p:spPr>
          <a:xfrm>
            <a:off x="3584448" y="471830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>
            <p:custDataLst>
              <p:tags r:id="rId34"/>
            </p:custDataLst>
          </p:nvPr>
        </p:nvSpPr>
        <p:spPr>
          <a:xfrm>
            <a:off x="3584448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E8BFF"/>
                </a:solidFill>
                <a:latin typeface="微软雅黑" panose="020B0503020204020204" charset="-122"/>
              </a:rPr>
              <a:t>06</a:t>
            </a:r>
            <a:endParaRPr sz="12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>
            <p:custDataLst>
              <p:tags r:id="rId35"/>
            </p:custDataLst>
          </p:nvPr>
        </p:nvSpPr>
        <p:spPr>
          <a:xfrm>
            <a:off x="3584448" y="52303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全自动 Pipeline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>
            <p:custDataLst>
              <p:tags r:id="rId36"/>
            </p:custDataLst>
          </p:nvPr>
        </p:nvSpPr>
        <p:spPr>
          <a:xfrm>
            <a:off x="3584448" y="5559551"/>
            <a:ext cx="219456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上传 PDF → 表格提取 → LLM 逐表抽取 → 归一化 → 入库，无需任何手动操作。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>
            <p:custDataLst>
              <p:tags r:id="rId37"/>
            </p:custDataLst>
          </p:nvPr>
        </p:nvSpPr>
        <p:spPr>
          <a:xfrm>
            <a:off x="6199632" y="4480559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>
            <p:custDataLst>
              <p:tags r:id="rId38"/>
            </p:custDataLst>
          </p:nvPr>
        </p:nvSpPr>
        <p:spPr>
          <a:xfrm>
            <a:off x="6199632" y="4480559"/>
            <a:ext cx="2633472" cy="508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>
            <p:custDataLst>
              <p:tags r:id="rId39"/>
            </p:custDataLst>
          </p:nvPr>
        </p:nvSpPr>
        <p:spPr>
          <a:xfrm>
            <a:off x="6419088" y="471830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>
            <p:custDataLst>
              <p:tags r:id="rId40"/>
            </p:custDataLst>
          </p:nvPr>
        </p:nvSpPr>
        <p:spPr>
          <a:xfrm>
            <a:off x="6419088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07</a:t>
            </a:r>
            <a:endParaRPr sz="12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>
            <p:custDataLst>
              <p:tags r:id="rId41"/>
            </p:custDataLst>
          </p:nvPr>
        </p:nvSpPr>
        <p:spPr>
          <a:xfrm>
            <a:off x="6419088" y="52303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SOTA 排行榜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>
            <p:custDataLst>
              <p:tags r:id="rId42"/>
            </p:custDataLst>
          </p:nvPr>
        </p:nvSpPr>
        <p:spPr>
          <a:xfrm>
            <a:off x="6419088" y="5559551"/>
            <a:ext cx="219456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按 Benchmark 分组，跨论文自动汇聚模型排名，对标 Wizwand。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>
            <p:custDataLst>
              <p:tags r:id="rId43"/>
            </p:custDataLst>
          </p:nvPr>
        </p:nvSpPr>
        <p:spPr>
          <a:xfrm>
            <a:off x="9034272" y="4480559"/>
            <a:ext cx="26334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>
            <p:custDataLst>
              <p:tags r:id="rId44"/>
            </p:custDataLst>
          </p:nvPr>
        </p:nvSpPr>
        <p:spPr>
          <a:xfrm>
            <a:off x="9034272" y="4480559"/>
            <a:ext cx="2633472" cy="508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>
            <p:custDataLst>
              <p:tags r:id="rId45"/>
            </p:custDataLst>
          </p:nvPr>
        </p:nvSpPr>
        <p:spPr>
          <a:xfrm>
            <a:off x="9253728" y="4718303"/>
            <a:ext cx="384048" cy="384048"/>
          </a:xfrm>
          <a:prstGeom prst="ellipse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>
            <p:custDataLst>
              <p:tags r:id="rId46"/>
            </p:custDataLst>
          </p:nvPr>
        </p:nvSpPr>
        <p:spPr>
          <a:xfrm>
            <a:off x="9253728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7A59"/>
                </a:solidFill>
                <a:latin typeface="微软雅黑" panose="020B0503020204020204" charset="-122"/>
              </a:rPr>
              <a:t>08</a:t>
            </a:r>
            <a:endParaRPr sz="1200" b="1">
              <a:solidFill>
                <a:srgbClr val="FF7A59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>
            <p:custDataLst>
              <p:tags r:id="rId47"/>
            </p:custDataLst>
          </p:nvPr>
        </p:nvSpPr>
        <p:spPr>
          <a:xfrm>
            <a:off x="9253728" y="52303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136"/>
                </a:solidFill>
                <a:latin typeface="微软雅黑" panose="020B0503020204020204" charset="-122"/>
              </a:rPr>
              <a:t>项目隔离</a:t>
            </a:r>
            <a:endParaRPr sz="125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>
            <p:custDataLst>
              <p:tags r:id="rId48"/>
            </p:custDataLst>
          </p:nvPr>
        </p:nvSpPr>
        <p:spPr>
          <a:xfrm>
            <a:off x="9253728" y="5559551"/>
            <a:ext cx="219456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Session 维度独立管理论文与排行榜，多项目互不干扰。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04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98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03  ·  流程详解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PDF → 结构化表格：六步 Pipeline</a:t>
            </a:r>
            <a:endParaRPr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Docling + TableFormer 把 PDF 表格变成带语义的 HTML，附带 caption 与页码。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450592"/>
            <a:ext cx="38100" cy="3383279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2286000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408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①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63040" y="2322576"/>
            <a:ext cx="209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DocumentConverter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0" y="228600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PDF → Docling 文档对象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0" y="259689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IBM 开源 PDF 文档理解工具包，输出文本段落 / 图片 / 表格等结构化对象。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944368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999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63040" y="2980944"/>
            <a:ext cx="143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过滤 Appendix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06240" y="294436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剔除附录噪音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3255263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跳过附录章节，只保留正文实验表格。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95528" y="3602736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57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③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63040" y="3639312"/>
            <a:ext cx="132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提取 caption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6240" y="360273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Docling + PyMuPDF fallback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391363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优先用 Docling，失败时回退 PyMuPDF 抽取表格标题。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5528" y="4261104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315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④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463040" y="4297680"/>
            <a:ext cx="143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TableFormer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426110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结构化 cell 列表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06240" y="457200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基于 PubTables-1M 训练（TEDS 96.75%），输出 column_header / row_section / col_span / row_span / bbox。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95528" y="4919472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974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⑤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63040" y="4956048"/>
            <a:ext cx="99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to_html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06240" y="491947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_table_cells_to_html()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06240" y="523036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把带语义的单元格渲染为标准 HTML 表格。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95528" y="5577840"/>
            <a:ext cx="384048" cy="38404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63270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⑥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463040" y="5614416"/>
            <a:ext cx="1320000" cy="2794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000" b="1">
                <a:solidFill>
                  <a:srgbClr val="163566"/>
                </a:solidFill>
                <a:latin typeface="微软雅黑" panose="020B0503020204020204" charset="-122"/>
              </a:rPr>
              <a:t>TableChunk</a:t>
            </a:r>
            <a:endParaRPr sz="1000" b="1">
              <a:solidFill>
                <a:srgbClr val="16356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06240" y="55778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136"/>
                </a:solidFill>
                <a:latin typeface="微软雅黑" panose="020B0503020204020204" charset="-122"/>
              </a:rPr>
              <a:t>写入页面结构</a:t>
            </a:r>
            <a:endParaRPr sz="13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06240" y="588873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480"/>
                </a:solidFill>
                <a:latin typeface="微软雅黑" panose="020B0503020204020204" charset="-122"/>
              </a:rPr>
              <a:t>封装 HTML + caption + 页码 + 标签，进入下游抽取。</a:t>
            </a:r>
            <a:endParaRPr sz="10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05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98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03  ·  流程详解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LLM 逐表抽取 + 自动构建排行榜</a:t>
            </a:r>
            <a:endParaRPr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抽取 → 归一化 → 分组汇聚，跨论文生成可排序的 SOTA 卡片。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34924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349240" cy="50292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LLM 逐表抽取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3090672"/>
            <a:ext cx="109728" cy="10972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4495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136"/>
                </a:solidFill>
                <a:latin typeface="微软雅黑" panose="020B0503020204020204" charset="-122"/>
              </a:rPr>
              <a:t>构造 Prompt</a:t>
            </a:r>
            <a:endParaRPr sz="12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319272"/>
            <a:ext cx="4800600" cy="20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提取完整表格数据，构造 prompt 发送给 LLM。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68680" y="3803904"/>
            <a:ext cx="109728" cy="10972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581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136"/>
                </a:solidFill>
                <a:latin typeface="微软雅黑" panose="020B0503020204020204" charset="-122"/>
              </a:rPr>
              <a:t>结构化返回</a:t>
            </a:r>
            <a:endParaRPr sz="12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032504"/>
            <a:ext cx="480060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按 Benchmark / Model / Dataset / Metric / Value 抽取；为 datasets、task 打标签。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68680" y="4517136"/>
            <a:ext cx="109728" cy="10972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7141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136"/>
                </a:solidFill>
                <a:latin typeface="微软雅黑" panose="020B0503020204020204" charset="-122"/>
              </a:rPr>
              <a:t>过滤判断</a:t>
            </a:r>
            <a:endParaRPr sz="12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745736"/>
            <a:ext cx="4800600" cy="20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返回是否过滤及理由；非实验表不写库，前端折叠并标注原因。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68680" y="5230368"/>
            <a:ext cx="109728" cy="109728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84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136"/>
                </a:solidFill>
                <a:latin typeface="微软雅黑" panose="020B0503020204020204" charset="-122"/>
              </a:rPr>
              <a:t>归一化</a:t>
            </a:r>
            <a:endParaRPr sz="12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5458968"/>
            <a:ext cx="480060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6480"/>
                </a:solidFill>
                <a:latin typeface="微软雅黑" panose="020B0503020204020204" charset="-122"/>
              </a:rPr>
              <a:t>处理 Benchmark 别名、去后缀；小指标排行榜合并进大排行榜；丢弃 val / test 裸名称。</a:t>
            </a:r>
            <a:endParaRPr sz="12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2331720"/>
            <a:ext cx="5349240" cy="3703320"/>
          </a:xfrm>
          <a:prstGeom prst="roundRect">
            <a:avLst/>
          </a:prstGeom>
          <a:solidFill>
            <a:srgbClr val="141A2E"/>
          </a:solidFill>
          <a:ln>
            <a:noFill/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331720"/>
            <a:ext cx="5349240" cy="502920"/>
          </a:xfrm>
          <a:prstGeom prst="round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231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1A2E"/>
                </a:solidFill>
                <a:latin typeface="微软雅黑" panose="020B0503020204020204" charset="-122"/>
              </a:rPr>
              <a:t>创建排行榜</a:t>
            </a:r>
            <a:endParaRPr sz="1400" b="1">
              <a:solidFill>
                <a:srgbClr val="141A2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2990087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E0C8"/>
                </a:solidFill>
                <a:latin typeface="微软雅黑" panose="020B0503020204020204" charset="-122"/>
              </a:rPr>
              <a:t>跨所有论文  ·  两层分组</a:t>
            </a:r>
            <a:endParaRPr sz="12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92240" y="3355848"/>
            <a:ext cx="4800600" cy="1143000"/>
          </a:xfrm>
          <a:prstGeom prst="roundRect">
            <a:avLst/>
          </a:prstGeom>
          <a:solidFill>
            <a:srgbClr val="2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447287"/>
            <a:ext cx="4526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  ·  会话级卡片列表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39"/>
            <a:ext cx="4526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① 按项目隔离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② 按 (benchmark, dataset) 分组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③ 每组算：模型数 / 指标列表 / 最高分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④ 渲染为卡片列表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92240" y="4617720"/>
            <a:ext cx="4800600" cy="1280160"/>
          </a:xfrm>
          <a:prstGeom prst="roundRect">
            <a:avLst/>
          </a:prstGeom>
          <a:solidFill>
            <a:srgbClr val="2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09160"/>
            <a:ext cx="4526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B  ·  单 benchmark 明细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5262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① 按 dataset 分组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② 组内 models 纵向展开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③ metrics 横向展开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4CDE4"/>
                </a:solidFill>
                <a:latin typeface="微软雅黑" panose="020B0503020204020204" charset="-122"/>
              </a:rPr>
              <a:t>④ 前端页面排序</a:t>
            </a:r>
            <a:endParaRPr sz="1050" b="0">
              <a:solidFill>
                <a:srgbClr val="C4CDE4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06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9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04  ·  重难点分析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sz="3400" b="1">
                <a:solidFill>
                  <a:srgbClr val="1A2136"/>
                </a:solidFill>
                <a:latin typeface="微软雅黑" panose="020B0503020204020204" charset="-122"/>
              </a:rPr>
              <a:t>项目难点：</a:t>
            </a: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PDF 表格结构识别</a:t>
            </a:r>
            <a:endParaRPr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项目的核心难点集中在 PDF 完整表格抽取，三处关键问题的解法如下。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5295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529584" cy="868680"/>
          </a:xfrm>
          <a:prstGeom prst="round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5295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 Light" panose="020B0502040204020203" charset="-122"/>
              </a:rPr>
              <a:t>4.1</a:t>
            </a:r>
            <a:endParaRPr sz="2400" b="1">
              <a:solidFill>
                <a:srgbClr val="FFFFFF"/>
              </a:solidFill>
              <a:latin typeface="微软雅黑 Light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263347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PDF 表格结构识别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2980944" cy="384048"/>
          </a:xfrm>
          <a:prstGeom prst="roundRect">
            <a:avLst/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FF7A59"/>
                </a:solidFill>
                <a:latin typeface="微软雅黑" panose="020B0503020204020204" charset="-122"/>
              </a:rPr>
              <a:t>4 次方案迭代</a:t>
            </a:r>
            <a:endParaRPr sz="1050" b="1">
              <a:solidFill>
                <a:srgbClr val="FF7A5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480"/>
                </a:solidFill>
                <a:latin typeface="微软雅黑" panose="020B0503020204020204" charset="-122"/>
              </a:rPr>
              <a:t>经历 4 次方案失败，最终放弃坐标反推路线，改为直接信任 TableFormer 模型的语义输出（column_header、row_section、col_span、row_span），遍历生成 HTML。</a:t>
            </a:r>
            <a:endParaRPr sz="11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5295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377440"/>
            <a:ext cx="3529584" cy="86868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35295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4203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 Light" panose="020B0502040204020203" charset="-122"/>
              </a:rPr>
              <a:t>4.2</a:t>
            </a:r>
            <a:endParaRPr sz="2400" b="1">
              <a:solidFill>
                <a:srgbClr val="FFFFFF"/>
              </a:solidFill>
              <a:latin typeface="微软雅黑 Light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32120" y="263347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子行拆分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63440" y="3429000"/>
            <a:ext cx="2980944" cy="384048"/>
          </a:xfrm>
          <a:prstGeom prst="roundRect">
            <a:avLst/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5E8BFF"/>
                </a:solidFill>
                <a:latin typeface="微软雅黑" panose="020B0503020204020204" charset="-122"/>
              </a:rPr>
              <a:t>Y 轴聚类 · 70% 阈值</a:t>
            </a:r>
            <a:endParaRPr sz="105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40050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480"/>
                </a:solidFill>
                <a:latin typeface="微软雅黑" panose="020B0503020204020204" charset="-122"/>
              </a:rPr>
              <a:t>PyMuPDF 在 cell 区域内按词坐标 Y 聚类（gap &gt; 4pt 切分），同行 ≥70% cell 簇数一致才认定；子行渲染为独立 &lt;tr&gt; 虚线分隔，相同内容 rowspan 去重。</a:t>
            </a:r>
            <a:endParaRPr sz="11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38159" y="2377440"/>
            <a:ext cx="35295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59" y="2377440"/>
            <a:ext cx="3529584" cy="868680"/>
          </a:xfrm>
          <a:prstGeom prst="round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2926080"/>
            <a:ext cx="35295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54203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 Light" panose="020B0502040204020203" charset="-122"/>
              </a:rPr>
              <a:t>4.3</a:t>
            </a:r>
            <a:endParaRPr sz="2400" b="1">
              <a:solidFill>
                <a:srgbClr val="FFFFFF"/>
              </a:solidFill>
              <a:latin typeface="微软雅黑 Light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81159" y="2633472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136"/>
                </a:solidFill>
                <a:latin typeface="微软雅黑" panose="020B0503020204020204" charset="-122"/>
              </a:rPr>
              <a:t>同页多表 caption 误匹配</a:t>
            </a:r>
            <a:endParaRPr sz="1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12480" y="3429000"/>
            <a:ext cx="2980944" cy="384048"/>
          </a:xfrm>
          <a:prstGeom prst="roundRect">
            <a:avLst/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18E0C8"/>
                </a:solidFill>
                <a:latin typeface="微软雅黑" panose="020B0503020204020204" charset="-122"/>
              </a:rPr>
              <a:t>120pt 邻近匹配</a:t>
            </a:r>
            <a:endParaRPr sz="105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0" y="40050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480"/>
                </a:solidFill>
                <a:latin typeface="微软雅黑" panose="020B0503020204020204" charset="-122"/>
              </a:rPr>
              <a:t>PyMuPDF 搜索范围限定表格上方 / 下方 120pt，取最靠近的那条匹配，避免 Table 7 显示成 Table 6 的标题。</a:t>
            </a:r>
            <a:endParaRPr sz="110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07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980000" cy="330200"/>
          </a:xfrm>
          <a:prstGeom prst="rect">
            <a:avLst/>
          </a:prstGeom>
          <a:solidFill>
            <a:srgbClr val="E7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PART 05  ·  未来规划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2136"/>
                </a:solidFill>
                <a:latin typeface="微软雅黑" panose="020B0503020204020204" charset="-122"/>
              </a:rPr>
              <a:t>从工具，走向平台</a:t>
            </a:r>
            <a:endParaRPr sz="34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66928" cy="50800"/>
          </a:xfrm>
          <a:prstGeom prst="round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480"/>
                </a:solidFill>
                <a:latin typeface="微软雅黑" panose="020B0503020204020204" charset="-122"/>
              </a:rPr>
              <a:t>完善产品体验，并把 BenchHub 推向更多使用场景。</a:t>
            </a:r>
            <a:endParaRPr sz="1350"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881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76200" cy="132588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24912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5E8BFF"/>
                </a:solidFill>
                <a:latin typeface="微软雅黑 Light" panose="020B0502040204020203" charset="-122"/>
              </a:rPr>
              <a:t>01</a:t>
            </a:r>
            <a:endParaRPr sz="4000" b="1">
              <a:solidFill>
                <a:srgbClr val="5E8BFF"/>
              </a:solidFill>
              <a:latin typeface="微软雅黑 Light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2724912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2136"/>
                </a:solidFill>
                <a:latin typeface="微软雅黑" panose="020B0503020204020204" charset="-122"/>
              </a:rPr>
              <a:t>完善产品体验</a:t>
            </a:r>
            <a:endParaRPr sz="18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3182112"/>
            <a:ext cx="7772400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>
                <a:solidFill>
                  <a:srgbClr val="5A6480"/>
                </a:solidFill>
                <a:latin typeface="微软雅黑" panose="020B0503020204020204" charset="-122"/>
              </a:rPr>
              <a:t>增加图表 / 趋势图功能，对标 Wizwand，让数据对比更直观。</a:t>
            </a:r>
            <a:endParaRPr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58400" y="2971800"/>
            <a:ext cx="457200" cy="330200"/>
          </a:xfrm>
          <a:prstGeom prst="rect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5E8BFF"/>
                </a:solidFill>
                <a:latin typeface="微软雅黑" panose="020B0503020204020204" charset="-122"/>
              </a:rPr>
              <a:t>近期</a:t>
            </a:r>
            <a:endParaRPr sz="1100" b="1">
              <a:solidFill>
                <a:srgbClr val="5E8B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881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>
            <a:outerShdw blurRad="90000" dist="38100" dir="5400000" rotWithShape="0">
              <a:srgbClr val="1A21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76200" cy="132588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8E0C8"/>
                </a:solidFill>
                <a:latin typeface="微软雅黑 Light" panose="020B0502040204020203" charset="-122"/>
              </a:rPr>
              <a:t>02</a:t>
            </a:r>
            <a:endParaRPr sz="40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4187952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2136"/>
                </a:solidFill>
                <a:latin typeface="微软雅黑" panose="020B0503020204020204" charset="-122"/>
              </a:rPr>
              <a:t>多场景落地</a:t>
            </a:r>
            <a:endParaRPr sz="1800" b="1">
              <a:solidFill>
                <a:srgbClr val="1A213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4645152"/>
            <a:ext cx="7772400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>
                <a:solidFill>
                  <a:srgbClr val="5A6480"/>
                </a:solidFill>
                <a:latin typeface="微软雅黑" panose="020B0503020204020204" charset="-122"/>
              </a:rPr>
              <a:t>覆盖个人研究者、实验室内部多用户、Web 公开社区三类使用场景。</a:t>
            </a:r>
            <a:endParaRPr b="0">
              <a:solidFill>
                <a:srgbClr val="5A648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058400" y="4434840"/>
            <a:ext cx="457200" cy="330200"/>
          </a:xfrm>
          <a:prstGeom prst="rect">
            <a:avLst/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100" b="1">
                <a:solidFill>
                  <a:srgbClr val="18E0C8"/>
                </a:solidFill>
                <a:latin typeface="微软雅黑" panose="020B0503020204020204" charset="-122"/>
              </a:rPr>
              <a:t>中期</a:t>
            </a:r>
            <a:endParaRPr sz="11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5623560"/>
            <a:ext cx="10881360" cy="640080"/>
          </a:xfrm>
          <a:prstGeom prst="round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>
                <a:solidFill>
                  <a:srgbClr val="18E0C8"/>
                </a:solidFill>
                <a:latin typeface="微软雅黑" panose="020B0503020204020204" charset="-122"/>
              </a:rPr>
              <a:t>让每一位研究者，都拥有自己的 SOTA 排行榜。</a:t>
            </a:r>
            <a:endParaRPr sz="1400" b="1">
              <a:solidFill>
                <a:srgbClr val="18E0C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BenchHub</a:t>
            </a:r>
            <a:r>
              <a:rPr sz="900" b="0">
                <a:solidFill>
                  <a:srgbClr val="9AA3BE"/>
                </a:solidFill>
                <a:latin typeface="微软雅黑" panose="020B0503020204020204" charset="-122"/>
              </a:rPr>
              <a:t>  ·  个人 AI 论文实验数据智能管理平台</a:t>
            </a:r>
            <a:endParaRPr sz="900" b="0">
              <a:solidFill>
                <a:srgbClr val="9AA3B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AA3BE"/>
                </a:solidFill>
                <a:latin typeface="微软雅黑" panose="020B0503020204020204" charset="-122"/>
              </a:rPr>
              <a:t>08 / 09</a:t>
            </a:r>
            <a:endParaRPr sz="900" b="1">
              <a:solidFill>
                <a:srgbClr val="9AA3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05872" y="804672"/>
            <a:ext cx="219456" cy="219456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1672" y="1673351"/>
            <a:ext cx="128016" cy="128016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76104" y="52212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66576" y="4151376"/>
            <a:ext cx="109728" cy="109728"/>
          </a:xfrm>
          <a:prstGeom prst="ellipse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5752" y="5879592"/>
            <a:ext cx="128016" cy="128016"/>
          </a:xfrm>
          <a:prstGeom prst="ellipse">
            <a:avLst/>
          </a:prstGeom>
          <a:solidFill>
            <a:srgbClr val="5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80160"/>
            <a:ext cx="1320000" cy="381000"/>
          </a:xfrm>
          <a:prstGeom prst="rect">
            <a:avLst/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0000" tIns="20000" rIns="80000" bIns="2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THANK  YOU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微软雅黑 Light" panose="020B0502040204020203" charset="-122"/>
              </a:rPr>
              <a:t>Bench</a:t>
            </a:r>
            <a:r>
              <a:rPr sz="6600" b="1">
                <a:solidFill>
                  <a:srgbClr val="18E0C8"/>
                </a:solidFill>
                <a:latin typeface="微软雅黑 Light" panose="020B0502040204020203" charset="-122"/>
              </a:rPr>
              <a:t>Hub</a:t>
            </a:r>
            <a:endParaRPr sz="6600" b="1">
              <a:solidFill>
                <a:srgbClr val="18E0C8"/>
              </a:solidFill>
              <a:latin typeface="微软雅黑 Light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" y="3429000"/>
            <a:ext cx="640080" cy="50800"/>
          </a:xfrm>
          <a:prstGeom prst="rect">
            <a:avLst/>
          </a:prstGeom>
          <a:solidFill>
            <a:srgbClr val="18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7DEF2"/>
                </a:solidFill>
                <a:latin typeface="微软雅黑" panose="020B0503020204020204" charset="-122"/>
              </a:rPr>
              <a:t>个人 AI 论文实验数据智能管理平台</a:t>
            </a:r>
            <a:endParaRPr sz="2000" b="0">
              <a:solidFill>
                <a:srgbClr val="D7DEF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4251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C2E0"/>
                </a:solidFill>
                <a:latin typeface="微软雅黑" panose="020B0503020204020204" charset="-122"/>
              </a:rPr>
              <a:t>上传 PDF → 自动抽取实验数据 → 构建私有 SOTA 排行榜</a:t>
            </a:r>
            <a:endParaRPr sz="1400" b="0">
              <a:solidFill>
                <a:srgbClr val="B6C2E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1248" y="5212080"/>
            <a:ext cx="10515600" cy="15240"/>
          </a:xfrm>
          <a:prstGeom prst="rect">
            <a:avLst/>
          </a:prstGeom>
          <a:solidFill>
            <a:srgbClr val="33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BE"/>
                </a:solidFill>
                <a:latin typeface="微软雅黑" panose="020B0503020204020204" charset="-122"/>
              </a:rPr>
              <a:t>对标  </a:t>
            </a:r>
            <a:r>
              <a:rPr sz="1100" b="1">
                <a:solidFill>
                  <a:srgbClr val="C4CDE4"/>
                </a:solidFill>
                <a:latin typeface="微软雅黑" panose="020B0503020204020204" charset="-122"/>
              </a:rPr>
              <a:t>PapersWithCode · Wizwand SOTA Leaderboard</a:t>
            </a:r>
            <a:endParaRPr sz="1100" b="1">
              <a:solidFill>
                <a:srgbClr val="C4CDE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6ADC4"/>
                </a:solidFill>
                <a:latin typeface="微软雅黑" panose="020B0503020204020204" charset="-122"/>
              </a:rPr>
              <a:t>09 / 09</a:t>
            </a:r>
            <a:endParaRPr sz="900" b="1">
              <a:solidFill>
                <a:srgbClr val="A6AD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5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6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7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8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9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0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1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2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3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4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5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6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7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8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19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0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1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2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3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4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5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6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7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8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29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0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1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2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3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4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5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6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7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8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39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0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1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2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3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4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5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6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7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ags/tag48.xml><?xml version="1.0" encoding="utf-8"?>
<p:tagLst xmlns:p="http://schemas.openxmlformats.org/presentationml/2006/main">
  <p:tag name="KSO_WM_DIAGRAM_VIRTUALLY_FRAME" val="{&quot;height&quot;:316.799842519685,&quot;left&quot;:41.76,&quot;top&quot;:183.6,&quot;width&quot;:876.959999999999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3089</Words>
  <Application>WPS 演示</Application>
  <PresentationFormat>On-screen Show (4:3)</PresentationFormat>
  <Paragraphs>326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微软雅黑 Light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Demo Stone</cp:lastModifiedBy>
  <cp:revision>9</cp:revision>
  <dcterms:created xsi:type="dcterms:W3CDTF">2013-01-27T09:14:00Z</dcterms:created>
  <dcterms:modified xsi:type="dcterms:W3CDTF">2026-06-16T02:26:04Z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8C899BB879A94836B3C0208C6BFED883_12</vt:lpwstr>
  </property>
  <property fmtid="{D5CDD505-2E9C-101B-9397-08002B2CF9AE}" pid="3" name="KSOProductBuildVer">
    <vt:lpwstr>2052-12.1.0.26895</vt:lpwstr>
  </property>
</Properties>
</file>